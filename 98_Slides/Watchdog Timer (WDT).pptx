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Inter SemiBold"/>
      <p:regular r:id="rId21"/>
      <p:bold r:id="rId22"/>
      <p:italic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  <p:embeddedFont>
      <p:font typeface="Montserrat ExtraBold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9C408FC-DEDC-4A68-B953-985FD59D0F15}">
  <a:tblStyle styleId="{39C408FC-DEDC-4A68-B953-985FD59D0F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5.xml"/><Relationship Id="rId33" Type="http://schemas.openxmlformats.org/officeDocument/2006/relationships/font" Target="fonts/MontserratExtraBold-bold.fntdata"/><Relationship Id="rId10" Type="http://schemas.openxmlformats.org/officeDocument/2006/relationships/slide" Target="slides/slide4.xml"/><Relationship Id="rId32" Type="http://schemas.openxmlformats.org/officeDocument/2006/relationships/font" Target="fonts/Inter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MontserratExtraBold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8.png"/><Relationship Id="rId6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10" Type="http://schemas.openxmlformats.org/officeDocument/2006/relationships/image" Target="../media/image28.png"/><Relationship Id="rId9" Type="http://schemas.openxmlformats.org/officeDocument/2006/relationships/image" Target="../media/image20.png"/><Relationship Id="rId5" Type="http://schemas.openxmlformats.org/officeDocument/2006/relationships/image" Target="../media/image26.png"/><Relationship Id="rId6" Type="http://schemas.openxmlformats.org/officeDocument/2006/relationships/image" Target="../media/image22.png"/><Relationship Id="rId7" Type="http://schemas.openxmlformats.org/officeDocument/2006/relationships/image" Target="../media/image33.png"/><Relationship Id="rId8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10" Type="http://schemas.openxmlformats.org/officeDocument/2006/relationships/image" Target="../media/image32.png"/><Relationship Id="rId9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22.png"/><Relationship Id="rId7" Type="http://schemas.openxmlformats.org/officeDocument/2006/relationships/image" Target="../media/image33.png"/><Relationship Id="rId8" Type="http://schemas.openxmlformats.org/officeDocument/2006/relationships/image" Target="../media/image4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10" Type="http://schemas.openxmlformats.org/officeDocument/2006/relationships/image" Target="../media/image36.png"/><Relationship Id="rId9" Type="http://schemas.openxmlformats.org/officeDocument/2006/relationships/image" Target="../media/image44.png"/><Relationship Id="rId5" Type="http://schemas.openxmlformats.org/officeDocument/2006/relationships/image" Target="../media/image35.png"/><Relationship Id="rId6" Type="http://schemas.openxmlformats.org/officeDocument/2006/relationships/image" Target="../media/image21.png"/><Relationship Id="rId7" Type="http://schemas.openxmlformats.org/officeDocument/2006/relationships/image" Target="../media/image25.png"/><Relationship Id="rId8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10" Type="http://schemas.openxmlformats.org/officeDocument/2006/relationships/image" Target="../media/image47.png"/><Relationship Id="rId9" Type="http://schemas.openxmlformats.org/officeDocument/2006/relationships/image" Target="../media/image34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1.png"/><Relationship Id="rId8" Type="http://schemas.openxmlformats.org/officeDocument/2006/relationships/image" Target="../media/image4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37.png"/><Relationship Id="rId9" Type="http://schemas.openxmlformats.org/officeDocument/2006/relationships/image" Target="../media/image39.png"/><Relationship Id="rId5" Type="http://schemas.openxmlformats.org/officeDocument/2006/relationships/image" Target="../media/image29.png"/><Relationship Id="rId6" Type="http://schemas.openxmlformats.org/officeDocument/2006/relationships/image" Target="../media/image38.png"/><Relationship Id="rId7" Type="http://schemas.openxmlformats.org/officeDocument/2006/relationships/image" Target="../media/image31.png"/><Relationship Id="rId8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455419" y="2062162"/>
            <a:ext cx="928116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Watchdog Timer (WDT)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619750" y="3186112"/>
            <a:ext cx="9525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676400" y="3509962"/>
            <a:ext cx="88392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Sentinel of Reliability in Embedded Systems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676400" y="4378523"/>
            <a:ext cx="8839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Author: BinhLV13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04875" y="1485900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Acts as an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independent sentinel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04875" y="2011560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Constantly monitors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MCU health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and execution.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04875" y="2537221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Crucial for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fault-tolerant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applications.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67500" y="1485900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Covers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STM32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TRAVEO T2G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microcontrollers.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67500" y="2346721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Promotes highly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available embedded systems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67500" y="2872382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Ensures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robustness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 critical environments.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82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6394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589609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153828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2399109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34125" y="2924770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571500" y="47625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Introduction to Watchdog Timers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1066800"/>
            <a:ext cx="11049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3" name="Google Shape;113;p15"/>
          <p:cNvGraphicFramePr/>
          <p:nvPr/>
        </p:nvGraphicFramePr>
        <p:xfrm>
          <a:off x="571500" y="1485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{39C408FC-DEDC-4A68-B953-985FD59D0F15}</a:tableStyleId>
              </a:tblPr>
              <a:tblGrid>
                <a:gridCol w="2209800"/>
                <a:gridCol w="8839200"/>
              </a:tblGrid>
              <a:tr h="64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F172A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Term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F172A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64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MCU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Microcontroller Unit.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WDT / WDG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Watchdog timer / Watchdog.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IWDG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Independent watchdog.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WWDG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Window watchdog.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EWI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Early Wakeup Interrupt.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LSI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Low-Speed Internal oscillator (typically ~32 kHz).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4" name="Google Shape;114;p15"/>
          <p:cNvSpPr/>
          <p:nvPr/>
        </p:nvSpPr>
        <p:spPr>
          <a:xfrm>
            <a:off x="571500" y="2090737"/>
            <a:ext cx="22098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2781300" y="2090737"/>
            <a:ext cx="88392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571500" y="2740223"/>
            <a:ext cx="22098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2781300" y="2740223"/>
            <a:ext cx="88392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571500" y="3389709"/>
            <a:ext cx="22098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2781300" y="3389709"/>
            <a:ext cx="88392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571500" y="4039195"/>
            <a:ext cx="22098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2781300" y="4039195"/>
            <a:ext cx="88392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571500" y="4688681"/>
            <a:ext cx="22098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2781300" y="4688681"/>
            <a:ext cx="88392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571500" y="5338167"/>
            <a:ext cx="22098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2781300" y="5338167"/>
            <a:ext cx="88392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571500" y="5987653"/>
            <a:ext cx="22098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2781300" y="5987653"/>
            <a:ext cx="88392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571500" y="47625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Abbreviations &amp; Acronyms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571500" y="1066800"/>
            <a:ext cx="11049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4859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904875" y="1485900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Acts as a hardware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fail-safe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mechanism.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904875" y="2011560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Main software sends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periodic pings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904875" y="2537221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Detects system freezes or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infinite loops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904875" y="3062882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Triggers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automatic system reset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on timeout.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04875" y="3588543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Ensures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autonomous recovery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without human intervention.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01904" y="1495425"/>
            <a:ext cx="4150667" cy="3790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5382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6394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58960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1527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40931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571500" y="47625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WDT Overview &amp; Mechanism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571500" y="1066800"/>
            <a:ext cx="11049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85900"/>
            <a:ext cx="5286375" cy="489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485900"/>
            <a:ext cx="5286375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962025" y="1876425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86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Safety Critical Applications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724650" y="1876425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19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WDT Implementations</a:t>
            </a:r>
            <a:endParaRPr/>
          </a:p>
        </p:txBody>
      </p:sp>
      <p:pic>
        <p:nvPicPr>
          <p:cNvPr descr="image.png" id="158" name="Google Shape;15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190500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1295400" y="2390775"/>
            <a:ext cx="4171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Required for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functional safety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295400" y="2916435"/>
            <a:ext cx="4171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Vital in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automotive systems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(ISO 26262).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295400" y="3442096"/>
            <a:ext cx="4171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Prevents fires in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home appliances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295400" y="3967757"/>
            <a:ext cx="41719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Lowers operational risk to an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acceptable level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163" name="Google Shape;16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19050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7058025" y="2390775"/>
            <a:ext cx="41719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Internal hardware: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Minimizes size and cost.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7058025" y="3251596"/>
            <a:ext cx="41719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External hardware: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Highest reliability, independent IC.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7058025" y="4112418"/>
            <a:ext cx="41719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Software timers: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Based on system clock interrupts.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7058025" y="4973240"/>
            <a:ext cx="41719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Internal WDTs provide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adequate reliability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generally.</a:t>
            </a:r>
            <a:endParaRPr/>
          </a:p>
        </p:txBody>
      </p:sp>
      <p:pic>
        <p:nvPicPr>
          <p:cNvPr descr="image.png" id="168" name="Google Shape;16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2443162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2968823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3494484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4020145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24650" y="2443162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24650" y="3303984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24650" y="4164806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24650" y="5025628"/>
            <a:ext cx="1047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 txBox="1"/>
          <p:nvPr/>
        </p:nvSpPr>
        <p:spPr>
          <a:xfrm>
            <a:off x="571500" y="47625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Applications &amp; Solutions</a:t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571500" y="1066800"/>
            <a:ext cx="11049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4859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904875" y="1485900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Features a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single pulse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operation.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904875" y="2011560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Counts to a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pre-defined limit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904875" y="2537221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Resets MCU automatically on a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missing pulse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904875" y="3062882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C262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Drawback: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May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miss early faults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904875" y="3588543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Accepts rapid inputs without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triggering errors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189" name="Google Shape;18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09464"/>
            <a:ext cx="5267325" cy="2962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53828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63948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589609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1527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40931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 txBox="1"/>
          <p:nvPr/>
        </p:nvSpPr>
        <p:spPr>
          <a:xfrm>
            <a:off x="571500" y="47625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WDT Operation: Standard Mode</a:t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571500" y="1066800"/>
            <a:ext cx="11049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4859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904875" y="1485900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Monitors a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min and max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pulse window.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904875" y="2011560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Detects both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missed and double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pulses.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904875" y="2537221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Prevents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too-early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or too-late servicing.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904875" y="3062882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Increases accuracy in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complex embedded systems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904875" y="3923704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Ensures precise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execution timing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208" name="Google Shape;20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09464"/>
            <a:ext cx="5267325" cy="2962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53828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63948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589609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15270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76092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9"/>
          <p:cNvSpPr txBox="1"/>
          <p:nvPr/>
        </p:nvSpPr>
        <p:spPr>
          <a:xfrm>
            <a:off x="571500" y="47625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WDT Operation: Window Mode</a:t>
            </a:r>
            <a:endParaRPr/>
          </a:p>
        </p:txBody>
      </p:sp>
      <p:sp>
        <p:nvSpPr>
          <p:cNvPr id="215" name="Google Shape;215;p19"/>
          <p:cNvSpPr/>
          <p:nvPr/>
        </p:nvSpPr>
        <p:spPr>
          <a:xfrm>
            <a:off x="571500" y="1066800"/>
            <a:ext cx="11049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4859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904875" y="1485900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Based on a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12-bit downcounter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904875" y="2011560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Clocked by an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independent 32 kHz LSI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904875" y="2537221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Operates reliably in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Stop and Standby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modes.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904875" y="3062882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Ideal for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standalone fault recovery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904875" y="3588543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Hardware or software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configurable startup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227" name="Google Shape;22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37916"/>
            <a:ext cx="5267325" cy="25058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538287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06394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58960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11527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3640931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571500" y="47625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STM32: Independent Watchdog (IWDG)</a:t>
            </a:r>
            <a:endParaRPr/>
          </a:p>
        </p:txBody>
      </p:sp>
      <p:sp>
        <p:nvSpPr>
          <p:cNvPr id="234" name="Google Shape;234;p20"/>
          <p:cNvSpPr/>
          <p:nvPr/>
        </p:nvSpPr>
        <p:spPr>
          <a:xfrm>
            <a:off x="571500" y="1066800"/>
            <a:ext cx="11049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4859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904875" y="1485900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Based on a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7-bit downcounter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904875" y="2011560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Clocked directly from the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main clock (APB1)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904875" y="2537221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Enforces refreshes within an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accurate time window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904875" y="3398043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Features an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Early Wakeup Interrupt (EWI)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904875" y="3923704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Best for applications needing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precise timing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246" name="Google Shape;24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88505"/>
            <a:ext cx="5267325" cy="2604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538287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06394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58960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450431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397609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 txBox="1"/>
          <p:nvPr/>
        </p:nvSpPr>
        <p:spPr>
          <a:xfrm>
            <a:off x="571500" y="47625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STM32: Window Watchdog (WWDG)</a:t>
            </a: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571500" y="1066800"/>
            <a:ext cx="11049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9" name="Google Shape;259;p22"/>
          <p:cNvGraphicFramePr/>
          <p:nvPr/>
        </p:nvGraphicFramePr>
        <p:xfrm>
          <a:off x="571500" y="1485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{39C408FC-DEDC-4A68-B953-985FD59D0F15}</a:tableStyleId>
              </a:tblPr>
              <a:tblGrid>
                <a:gridCol w="2720275"/>
                <a:gridCol w="4062400"/>
                <a:gridCol w="4266300"/>
              </a:tblGrid>
              <a:tr h="64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F172A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F172A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IWDG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F172A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WWDG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64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Clock Source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LSI (Independent, 32kHz)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APB1 (Derived from system)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Timing Precision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Less precise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Highly precise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Refresh Logic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Anytime before timeout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Must be within a valid window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Interrupts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None before reset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Supports Early Wakeup (EWI)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Best Use Case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Safety-critical fault recovery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Precise timing error detection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0" name="Google Shape;260;p22"/>
          <p:cNvSpPr/>
          <p:nvPr/>
        </p:nvSpPr>
        <p:spPr>
          <a:xfrm>
            <a:off x="571500" y="2090737"/>
            <a:ext cx="272028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3291780" y="2090737"/>
            <a:ext cx="406241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7354192" y="2090737"/>
            <a:ext cx="426630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571500" y="2740223"/>
            <a:ext cx="272028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3291780" y="2740223"/>
            <a:ext cx="406241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7354192" y="2740223"/>
            <a:ext cx="426630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571500" y="3389709"/>
            <a:ext cx="272028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3291780" y="3389709"/>
            <a:ext cx="406241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7354192" y="3389709"/>
            <a:ext cx="426630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571500" y="4039195"/>
            <a:ext cx="272028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3291780" y="4039195"/>
            <a:ext cx="406241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7354192" y="4039195"/>
            <a:ext cx="426630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571500" y="4688681"/>
            <a:ext cx="272028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3291780" y="4688681"/>
            <a:ext cx="406241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7354192" y="4688681"/>
            <a:ext cx="426630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571500" y="5338167"/>
            <a:ext cx="272028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3291780" y="5338167"/>
            <a:ext cx="406241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7354192" y="5338167"/>
            <a:ext cx="426630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571500" y="47625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Key Differences: IWDG vs WWDG</a:t>
            </a:r>
            <a:endParaRPr/>
          </a:p>
        </p:txBody>
      </p:sp>
      <p:sp>
        <p:nvSpPr>
          <p:cNvPr id="279" name="Google Shape;279;p22"/>
          <p:cNvSpPr/>
          <p:nvPr/>
        </p:nvSpPr>
        <p:spPr>
          <a:xfrm>
            <a:off x="571500" y="1066800"/>
            <a:ext cx="11049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4" name="Google Shape;28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4859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3"/>
          <p:cNvSpPr txBox="1"/>
          <p:nvPr/>
        </p:nvSpPr>
        <p:spPr>
          <a:xfrm>
            <a:off x="904875" y="1485900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Features a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32-bit up-counter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(32.768 kHz).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904875" y="2011560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Utilizes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LOWER, WARN, and UPPER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limits.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904875" y="2537221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Generates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pre-warning interrupts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or resets.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904875" y="3062882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Protected by strict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hardware unlock sequences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904875" y="3588543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Can act as a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wakeup capability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source.</a:t>
            </a:r>
            <a:endParaRPr/>
          </a:p>
        </p:txBody>
      </p:sp>
      <p:pic>
        <p:nvPicPr>
          <p:cNvPr descr="image.png" id="291" name="Google Shape;29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31342"/>
            <a:ext cx="5267325" cy="29191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538287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06394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58960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11527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3640931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3"/>
          <p:cNvSpPr txBox="1"/>
          <p:nvPr/>
        </p:nvSpPr>
        <p:spPr>
          <a:xfrm>
            <a:off x="571500" y="47625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TRAVEO T2G: Basic WDT</a:t>
            </a:r>
            <a:endParaRPr/>
          </a:p>
        </p:txBody>
      </p:sp>
      <p:sp>
        <p:nvSpPr>
          <p:cNvPr id="298" name="Google Shape;298;p23"/>
          <p:cNvSpPr/>
          <p:nvPr/>
        </p:nvSpPr>
        <p:spPr>
          <a:xfrm>
            <a:off x="571500" y="1066800"/>
            <a:ext cx="11049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4859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4"/>
          <p:cNvSpPr txBox="1"/>
          <p:nvPr/>
        </p:nvSpPr>
        <p:spPr>
          <a:xfrm>
            <a:off x="904875" y="1485900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Integrates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two 16-bit and one 32-bit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counters.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904875" y="2011560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Provides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granular monitoring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across multiple tasks.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904875" y="2872382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Enables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functional safety (ASIL-B)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containment.</a:t>
            </a:r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904875" y="3398043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Highly configurable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warning and fault actions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09" name="Google Shape;309;p24"/>
          <p:cNvSpPr txBox="1"/>
          <p:nvPr/>
        </p:nvSpPr>
        <p:spPr>
          <a:xfrm>
            <a:off x="904875" y="3923704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Functions as a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low-power wake-up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source.</a:t>
            </a:r>
            <a:endParaRPr/>
          </a:p>
        </p:txBody>
      </p:sp>
      <p:pic>
        <p:nvPicPr>
          <p:cNvPr descr="image.png" id="310" name="Google Shape;31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465040"/>
            <a:ext cx="5267325" cy="1851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538287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06394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92477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450431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3976092"/>
            <a:ext cx="238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4"/>
          <p:cNvSpPr txBox="1"/>
          <p:nvPr/>
        </p:nvSpPr>
        <p:spPr>
          <a:xfrm>
            <a:off x="571500" y="47625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TRAVEO T2G: Multi-Counter WDT</a:t>
            </a:r>
            <a:endParaRPr/>
          </a:p>
        </p:txBody>
      </p:sp>
      <p:sp>
        <p:nvSpPr>
          <p:cNvPr id="317" name="Google Shape;317;p24"/>
          <p:cNvSpPr/>
          <p:nvPr/>
        </p:nvSpPr>
        <p:spPr>
          <a:xfrm>
            <a:off x="571500" y="1066800"/>
            <a:ext cx="11049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2" name="Google Shape;32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5"/>
          <p:cNvSpPr txBox="1"/>
          <p:nvPr/>
        </p:nvSpPr>
        <p:spPr>
          <a:xfrm>
            <a:off x="295275" y="1438423"/>
            <a:ext cx="116014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Summary &amp; Closing</a:t>
            </a:r>
            <a:endParaRPr/>
          </a:p>
        </p:txBody>
      </p:sp>
      <p:sp>
        <p:nvSpPr>
          <p:cNvPr id="324" name="Google Shape;324;p25"/>
          <p:cNvSpPr/>
          <p:nvPr/>
        </p:nvSpPr>
        <p:spPr>
          <a:xfrm>
            <a:off x="5619750" y="2648098"/>
            <a:ext cx="9525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 txBox="1"/>
          <p:nvPr/>
        </p:nvSpPr>
        <p:spPr>
          <a:xfrm>
            <a:off x="571500" y="2971948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WDTs are the core of </a:t>
            </a:r>
            <a:r>
              <a:rPr b="0" i="0" lang="en-US" sz="240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fault-tolerant</a:t>
            </a:r>
            <a:r>
              <a:rPr b="0" i="0" lang="en-US" sz="24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MCU design.</a:t>
            </a:r>
            <a:endParaRPr/>
          </a:p>
        </p:txBody>
      </p:sp>
      <p:sp>
        <p:nvSpPr>
          <p:cNvPr id="326" name="Google Shape;326;p25"/>
          <p:cNvSpPr txBox="1"/>
          <p:nvPr/>
        </p:nvSpPr>
        <p:spPr>
          <a:xfrm>
            <a:off x="571500" y="3745259"/>
            <a:ext cx="11049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Choose between standard, windowed, IWDG, WWDG, or MCWDT based on precise application safety needs.</a:t>
            </a:r>
            <a:endParaRPr/>
          </a:p>
        </p:txBody>
      </p:sp>
      <p:sp>
        <p:nvSpPr>
          <p:cNvPr id="327" name="Google Shape;327;p25"/>
          <p:cNvSpPr txBox="1"/>
          <p:nvPr/>
        </p:nvSpPr>
        <p:spPr>
          <a:xfrm>
            <a:off x="571500" y="4952851"/>
            <a:ext cx="110490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2" name="Google Shape;33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6"/>
          <p:cNvSpPr/>
          <p:nvPr/>
        </p:nvSpPr>
        <p:spPr>
          <a:xfrm>
            <a:off x="571500" y="138618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571500" y="2170955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6"/>
          <p:cNvSpPr/>
          <p:nvPr/>
        </p:nvSpPr>
        <p:spPr>
          <a:xfrm>
            <a:off x="571500" y="3153816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6"/>
          <p:cNvSpPr/>
          <p:nvPr/>
        </p:nvSpPr>
        <p:spPr>
          <a:xfrm>
            <a:off x="571500" y="413667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6"/>
          <p:cNvSpPr/>
          <p:nvPr/>
        </p:nvSpPr>
        <p:spPr>
          <a:xfrm>
            <a:off x="571500" y="4921448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6"/>
          <p:cNvSpPr/>
          <p:nvPr/>
        </p:nvSpPr>
        <p:spPr>
          <a:xfrm>
            <a:off x="571500" y="21614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6"/>
          <p:cNvSpPr/>
          <p:nvPr/>
        </p:nvSpPr>
        <p:spPr>
          <a:xfrm>
            <a:off x="571500" y="21614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6"/>
          <p:cNvSpPr/>
          <p:nvPr/>
        </p:nvSpPr>
        <p:spPr>
          <a:xfrm>
            <a:off x="571500" y="31442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6"/>
          <p:cNvSpPr/>
          <p:nvPr/>
        </p:nvSpPr>
        <p:spPr>
          <a:xfrm>
            <a:off x="571500" y="31442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6"/>
          <p:cNvSpPr/>
          <p:nvPr/>
        </p:nvSpPr>
        <p:spPr>
          <a:xfrm>
            <a:off x="571500" y="412715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6"/>
          <p:cNvSpPr/>
          <p:nvPr/>
        </p:nvSpPr>
        <p:spPr>
          <a:xfrm>
            <a:off x="571500" y="412715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571500" y="491192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571500" y="491192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6"/>
          <p:cNvSpPr/>
          <p:nvPr/>
        </p:nvSpPr>
        <p:spPr>
          <a:xfrm>
            <a:off x="571500" y="569669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6"/>
          <p:cNvSpPr/>
          <p:nvPr/>
        </p:nvSpPr>
        <p:spPr>
          <a:xfrm>
            <a:off x="571500" y="569669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8" name="Google Shape;34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560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6"/>
          <p:cNvSpPr txBox="1"/>
          <p:nvPr/>
        </p:nvSpPr>
        <p:spPr>
          <a:xfrm>
            <a:off x="1666875" y="152906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https://assets.incompliancemag.com/2025/04/2505-F1-fig1.png</a:t>
            </a:r>
            <a:endParaRPr/>
          </a:p>
        </p:txBody>
      </p:sp>
      <p:sp>
        <p:nvSpPr>
          <p:cNvPr id="350" name="Google Shape;350;p26"/>
          <p:cNvSpPr txBox="1"/>
          <p:nvPr/>
        </p:nvSpPr>
        <p:spPr>
          <a:xfrm>
            <a:off x="1666875" y="177477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incompliancemag.com</a:t>
            </a:r>
            <a:endParaRPr/>
          </a:p>
        </p:txBody>
      </p:sp>
      <p:pic>
        <p:nvPicPr>
          <p:cNvPr descr="image.png" id="351" name="Google Shape;35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1949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6"/>
          <p:cNvSpPr txBox="1"/>
          <p:nvPr/>
        </p:nvSpPr>
        <p:spPr>
          <a:xfrm>
            <a:off x="1666875" y="231383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https://cf-images.us-east-1.prod.boltdns.net/v1/static/3816841626001/ddf6cf73-7adc-4151-bd8f-0277b40c243a/cc19e9ac-6341-4a02-ac77-77d9b1407f22/1280x720/match/image.jpg</a:t>
            </a:r>
            <a:endParaRPr/>
          </a:p>
        </p:txBody>
      </p:sp>
      <p:sp>
        <p:nvSpPr>
          <p:cNvPr id="353" name="Google Shape;353;p26"/>
          <p:cNvSpPr txBox="1"/>
          <p:nvPr/>
        </p:nvSpPr>
        <p:spPr>
          <a:xfrm>
            <a:off x="1666875" y="275763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www.ti.com</a:t>
            </a:r>
            <a:endParaRPr/>
          </a:p>
        </p:txBody>
      </p:sp>
      <p:pic>
        <p:nvPicPr>
          <p:cNvPr descr="image.png" id="354" name="Google Shape;354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023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6"/>
          <p:cNvSpPr txBox="1"/>
          <p:nvPr/>
        </p:nvSpPr>
        <p:spPr>
          <a:xfrm>
            <a:off x="1666875" y="329669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https://kajabi-storefronts-production.kajabi-cdn.com/kajabi-storefronts-production/file-uploads/blogs/2148030645/images/7cc3e8-6ab6-de7c-4c02-4f46022d436_stm32_independent_watchdog_block_diagram.jpg</a:t>
            </a:r>
            <a:endParaRPr/>
          </a:p>
        </p:txBody>
      </p:sp>
      <p:sp>
        <p:nvSpPr>
          <p:cNvPr id="356" name="Google Shape;356;p26"/>
          <p:cNvSpPr txBox="1"/>
          <p:nvPr/>
        </p:nvSpPr>
        <p:spPr>
          <a:xfrm>
            <a:off x="1666875" y="374049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www.steppeschool.com</a:t>
            </a:r>
            <a:endParaRPr/>
          </a:p>
        </p:txBody>
      </p:sp>
      <p:pic>
        <p:nvPicPr>
          <p:cNvPr descr="image.png" id="357" name="Google Shape;357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8610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6"/>
          <p:cNvSpPr txBox="1"/>
          <p:nvPr/>
        </p:nvSpPr>
        <p:spPr>
          <a:xfrm>
            <a:off x="1666875" y="427955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https://miro.medium.com/1*G2_jSedlsiFvikMIxWbWxA.png</a:t>
            </a:r>
            <a:endParaRPr/>
          </a:p>
        </p:txBody>
      </p:sp>
      <p:sp>
        <p:nvSpPr>
          <p:cNvPr id="359" name="Google Shape;359;p26"/>
          <p:cNvSpPr txBox="1"/>
          <p:nvPr/>
        </p:nvSpPr>
        <p:spPr>
          <a:xfrm>
            <a:off x="1666875" y="452526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kunalsalvi63.medium.com</a:t>
            </a:r>
            <a:endParaRPr/>
          </a:p>
        </p:txBody>
      </p:sp>
      <p:pic>
        <p:nvPicPr>
          <p:cNvPr descr="image.png" id="360" name="Google Shape;360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07087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6"/>
          <p:cNvSpPr txBox="1"/>
          <p:nvPr/>
        </p:nvSpPr>
        <p:spPr>
          <a:xfrm>
            <a:off x="1666875" y="506432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https://documentation.infineon.com/traveo/assets/images/iee1681542259905-c341733b3415ffcb217bfa0208680f73.svg</a:t>
            </a:r>
            <a:endParaRPr/>
          </a:p>
        </p:txBody>
      </p:sp>
      <p:sp>
        <p:nvSpPr>
          <p:cNvPr id="362" name="Google Shape;362;p26"/>
          <p:cNvSpPr txBox="1"/>
          <p:nvPr/>
        </p:nvSpPr>
        <p:spPr>
          <a:xfrm>
            <a:off x="1666875" y="531003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documentation.infineon.com</a:t>
            </a:r>
            <a:endParaRPr/>
          </a:p>
        </p:txBody>
      </p:sp>
      <p:pic>
        <p:nvPicPr>
          <p:cNvPr descr="image.png" id="363" name="Google Shape;363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855642"/>
            <a:ext cx="2800350" cy="670321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6"/>
          <p:cNvSpPr txBox="1"/>
          <p:nvPr/>
        </p:nvSpPr>
        <p:spPr>
          <a:xfrm>
            <a:off x="1666875" y="584909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https://documentation.infineon.com/traveo/assets/images/nwx1681542000581-18cabc69f28d4a2b37ba1a4f08fa409c.svg</a:t>
            </a:r>
            <a:endParaRPr/>
          </a:p>
        </p:txBody>
      </p:sp>
      <p:sp>
        <p:nvSpPr>
          <p:cNvPr id="365" name="Google Shape;365;p26"/>
          <p:cNvSpPr txBox="1"/>
          <p:nvPr/>
        </p:nvSpPr>
        <p:spPr>
          <a:xfrm>
            <a:off x="1666875" y="609480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documentation.infineon.com</a:t>
            </a:r>
            <a:endParaRPr/>
          </a:p>
        </p:txBody>
      </p:sp>
      <p:sp>
        <p:nvSpPr>
          <p:cNvPr id="366" name="Google Shape;366;p26"/>
          <p:cNvSpPr txBox="1"/>
          <p:nvPr/>
        </p:nvSpPr>
        <p:spPr>
          <a:xfrm>
            <a:off x="571500" y="376535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Image Sources</a:t>
            </a:r>
            <a:endParaRPr/>
          </a:p>
        </p:txBody>
      </p:sp>
      <p:sp>
        <p:nvSpPr>
          <p:cNvPr id="367" name="Google Shape;367;p26"/>
          <p:cNvSpPr/>
          <p:nvPr/>
        </p:nvSpPr>
        <p:spPr>
          <a:xfrm>
            <a:off x="571500" y="967085"/>
            <a:ext cx="11049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